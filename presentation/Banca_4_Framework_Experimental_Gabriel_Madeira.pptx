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Retomar o compromisso assumido na Banca 3: implementação do instrumento e validação antes da comparação entre 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Passo 01 prometia concluir os modelos, o logger e o pipeline. Esta apresentação presta contas dessa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configuração anterior introduzia coordenação e sensibilidade à simetria. Sorteio de setores e rotação de iniciativa foram implementados para controle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Ressaltar a relação entre cobertura direcional e tiro em linha reta: tiro arbitrário contornaria as defesas.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sensor é igual para todos os agentes e não entrega posição exata. Percepção completa alteraria drasticamente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Bancos congelados e disjuntos evitam ajustar parâmetros diretamente no conjunto de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contagem abstrata permite comparar decisões sem depender da velocidade do processador.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atribuído a cada jogador pode ser alterado por argumento de linha de comando. Cada execução documenta suas condições.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fonte de viés conhecida tem um controle implementado. A próxima lâmina testa o conjunto desses controles com agentes idênticos.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teste de neutralidade. Não detectar diferença não prova ausência absoluta de viés, mas dá suporte ao uso do ambiente nas comparações subsequentes.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Retomar os três compromissos anunciados na Banca 3 e a validação adicionada como controle metodológico.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banca seguinte tratará dos resultados comparativos, com os mesmos mapas para todos 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Perguntas frequentes: por que agentes individuais, sorteio dos setores, sensor de proximidade e contagem abstrata de operações.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9F7042"/>
                </a:solidFill>
                <a:latin typeface="Aptos"/>
              </a:defRPr>
            </a:pPr>
            <a:r>
              <a:t>INTELIGÊNCIA ARTIFICIAL &amp; JOGOS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6446520" cy="2834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Avaliação Experimental de um Modelo Híbrido para Decisão Estratégica em Simulações de Combate Baseadas em Turnos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4251960"/>
            <a:ext cx="60350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84830"/>
                </a:solidFill>
                <a:latin typeface="Aptos"/>
              </a:defRPr>
            </a:pPr>
            <a:r>
              <a:t>PASSO 01  ·  FRAMEWORK EXPERIMENTAL CONCLUÍDO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074920"/>
            <a:ext cx="548640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Gabriel Madeira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Orientador: Ricardo Martins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Coorientador: Diego Penha</a:t>
            </a:r>
          </a:p>
        </p:txBody>
      </p:sp>
      <p:pic>
        <p:nvPicPr>
          <p:cNvPr id="7" name="Picture 6" descr="cover_pho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731520"/>
            <a:ext cx="376732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Onde paramos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84830"/>
                </a:solidFill>
                <a:latin typeface="Aptos"/>
              </a:defRPr>
            </a:pPr>
            <a:r>
              <a:t>Na Banca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300" b="0">
                <a:solidFill>
                  <a:srgbClr val="2F302C"/>
                </a:solidFill>
                <a:latin typeface="Aptos"/>
              </a:defRPr>
            </a:pPr>
            <a:r>
              <a:t>Protótipo com grid, obstáculos e dois agentes com movimentação inicial.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834640"/>
            <a:ext cx="10808208" cy="804672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008376"/>
            <a:ext cx="7315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9F7042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7943" y="3017520"/>
            <a:ext cx="726948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Modelos, logger e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3081528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484830"/>
                </a:solidFill>
                <a:latin typeface="Aptos"/>
              </a:defRPr>
            </a:pPr>
            <a:r>
              <a:t>ESTA BANCA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822191"/>
            <a:ext cx="10808208" cy="804672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995928"/>
            <a:ext cx="7315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9F7042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7943" y="4005072"/>
            <a:ext cx="726948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Execução e análise estatística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069079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484830"/>
                </a:solidFill>
                <a:latin typeface="Aptos"/>
              </a:defRPr>
            </a:pPr>
            <a:r>
              <a:t>PRÓXIMA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4809744"/>
            <a:ext cx="10808208" cy="804672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983480"/>
            <a:ext cx="7315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9F7042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7943" y="4992624"/>
            <a:ext cx="726948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Modelo híbrido e monografia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056631"/>
            <a:ext cx="190195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484830"/>
                </a:solidFill>
                <a:latin typeface="Aptos"/>
              </a:defRPr>
            </a:pPr>
            <a:r>
              <a:t>ETAPA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O desenho experimental evoluiu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9F7042"/>
                </a:solidFill>
                <a:latin typeface="Aptos"/>
              </a:defRPr>
            </a:pPr>
            <a:r>
              <a:t>DUAS MUDANÇAS PARA CONTROLAR O VIÉS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19072"/>
            <a:ext cx="318211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706954"/>
                </a:solidFill>
                <a:latin typeface="Aptos"/>
              </a:defRPr>
            </a:pPr>
            <a:r>
              <a:t>Combate 3 × 3 em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9936" y="1719072"/>
            <a:ext cx="3127248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84830"/>
                </a:solidFill>
                <a:latin typeface="Aptos"/>
              </a:defRPr>
            </a:pPr>
            <a:r>
              <a:t>3 agentes independentes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7" y="1719072"/>
            <a:ext cx="3995928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Isola a qualidade de decisão individual da coordenação em equipe.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2798063"/>
            <a:ext cx="10607040" cy="16459"/>
          </a:xfrm>
          <a:prstGeom prst="rect">
            <a:avLst/>
          </a:prstGeom>
          <a:solidFill>
            <a:srgbClr val="9F7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163824"/>
            <a:ext cx="318211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706954"/>
                </a:solidFill>
                <a:latin typeface="Aptos"/>
              </a:defRPr>
            </a:pPr>
            <a:r>
              <a:t>Mapa simétrico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6" y="3163824"/>
            <a:ext cx="3127248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84830"/>
                </a:solidFill>
                <a:latin typeface="Aptos"/>
              </a:defRPr>
            </a:pPr>
            <a:r>
              <a:t>4 setores e nascimento sorteado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3163824"/>
            <a:ext cx="3995928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Dilui vantagens de terreno ao longo das partidas.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4242816"/>
            <a:ext cx="10607040" cy="16459"/>
          </a:xfrm>
          <a:prstGeom prst="rect">
            <a:avLst/>
          </a:prstGeom>
          <a:solidFill>
            <a:srgbClr val="9F7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608576"/>
            <a:ext cx="318211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706954"/>
                </a:solidFill>
                <a:latin typeface="Aptos"/>
              </a:defRPr>
            </a:pPr>
            <a:r>
              <a:t>Início dividido entre duas 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4608576"/>
            <a:ext cx="3127248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84830"/>
                </a:solidFill>
                <a:latin typeface="Aptos"/>
              </a:defRPr>
            </a:pPr>
            <a:r>
              <a:t>Início rotativo entre três posições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4608576"/>
            <a:ext cx="3995928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Partida i começa com jogador i mod 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5687568"/>
            <a:ext cx="10607040" cy="16459"/>
          </a:xfrm>
          <a:prstGeom prst="rect">
            <a:avLst/>
          </a:prstGeom>
          <a:solidFill>
            <a:srgbClr val="9F7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O ambiente de combate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63040"/>
            <a:ext cx="3419856" cy="1417320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636776"/>
            <a:ext cx="297180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484830"/>
                </a:solidFill>
                <a:latin typeface="Georgia"/>
              </a:defRPr>
            </a:pPr>
            <a:r>
              <a:t>40 ×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313432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células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62856" y="1463040"/>
            <a:ext cx="3419856" cy="1417320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4024" y="1636776"/>
            <a:ext cx="297180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484830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4024" y="2313432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agentes livres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1463040"/>
            <a:ext cx="3419856" cy="1417320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636776"/>
            <a:ext cx="297180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484830"/>
                </a:solidFill>
                <a:latin typeface="Georgia"/>
              </a:defRPr>
            </a:pPr>
            <a: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313432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turnos no máximo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255264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255264"/>
            <a:ext cx="10241280" cy="8229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2F302C"/>
                </a:solidFill>
                <a:latin typeface="Aptos"/>
              </a:defRPr>
            </a:pPr>
            <a:r>
              <a:t>Movimento de até 3 células com caminho validado por busca em largura.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133087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133087"/>
            <a:ext cx="10241280" cy="8229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2F302C"/>
                </a:solidFill>
                <a:latin typeface="Aptos"/>
              </a:defRPr>
            </a:pPr>
            <a:r>
              <a:t>Dano fixo de 30. Sem sorteio durante o combate.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010912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010912"/>
            <a:ext cx="10241280" cy="8229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2F302C"/>
                </a:solidFill>
                <a:latin typeface="Aptos"/>
              </a:defRPr>
            </a:pPr>
            <a:r>
              <a:t>Cobertura protege só na direção do atacante; o tiro exige linha reta.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Percepção limitada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Os agentes decidem com informação incompleta.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349240" cy="157276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76272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9F7042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2F302C"/>
                </a:solidFill>
                <a:latin typeface="Georgia"/>
              </a:defRPr>
            </a:pPr>
            <a:r>
              <a:t>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15768"/>
            <a:ext cx="416052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Cone de 120°, alcance 8, bloqueado por paredes.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5349240" cy="157276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176272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9F7042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48840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2F302C"/>
                </a:solidFill>
                <a:latin typeface="Georgia"/>
              </a:defRPr>
            </a:pPr>
            <a:r>
              <a:t>Memória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715768"/>
            <a:ext cx="416052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Última posição observada de cada inimigo.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13048"/>
            <a:ext cx="5349240" cy="157276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02336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9F7042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95928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2F302C"/>
                </a:solidFill>
                <a:latin typeface="Georgia"/>
              </a:defRPr>
            </a:pPr>
            <a:r>
              <a:t>Dano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62856"/>
            <a:ext cx="416052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Ao ser atingido, o agente descobre o atirador.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13048"/>
            <a:ext cx="5349240" cy="157276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023360"/>
            <a:ext cx="594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9F7042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995928"/>
            <a:ext cx="4160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2F302C"/>
                </a:solidFill>
                <a:latin typeface="Georgia"/>
              </a:defRPr>
            </a:pPr>
            <a:r>
              <a:t>Sensor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562856"/>
            <a:ext cx="416052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F302C"/>
                </a:solidFill>
                <a:latin typeface="Aptos"/>
              </a:defRPr>
            </a:pPr>
            <a:r>
              <a:t>Direção e faixa aproximada, sem coordenada exata.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Mapas reproduzíveis por semente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636776"/>
            <a:ext cx="1956816" cy="76809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47088"/>
            <a:ext cx="17739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484830"/>
                </a:solidFill>
                <a:latin typeface="Aptos"/>
              </a:defRPr>
            </a:pPr>
            <a:r>
              <a:t>Semente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2" y="1755648"/>
            <a:ext cx="22860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9F70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8" y="1636776"/>
            <a:ext cx="1956816" cy="76809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847088"/>
            <a:ext cx="17739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484830"/>
                </a:solidFill>
                <a:latin typeface="Aptos"/>
              </a:defRPr>
            </a:pPr>
            <a:r>
              <a:t>4 setores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1755648"/>
            <a:ext cx="22860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9F70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6088" y="1636776"/>
            <a:ext cx="1956816" cy="76809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7" y="1847088"/>
            <a:ext cx="17739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484830"/>
                </a:solidFill>
                <a:latin typeface="Aptos"/>
              </a:defRPr>
            </a:pPr>
            <a:r>
              <a:t>Nascimentos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1755648"/>
            <a:ext cx="22860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9F70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1636776"/>
            <a:ext cx="1956816" cy="76809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7" y="1847088"/>
            <a:ext cx="17739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484830"/>
                </a:solidFill>
                <a:latin typeface="Aptos"/>
              </a:defRPr>
            </a:pPr>
            <a:r>
              <a:t>Obstáculos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1755648"/>
            <a:ext cx="22860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9F704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48088" y="1636776"/>
            <a:ext cx="1956816" cy="76809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1847088"/>
            <a:ext cx="177393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484830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916936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2916936"/>
            <a:ext cx="10287000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F302C"/>
                </a:solidFill>
                <a:latin typeface="Aptos"/>
              </a:defRPr>
            </a:pPr>
            <a:r>
              <a:t>Um agente nasce em cada setor sorteado, com área segura em torno do nascimento.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730752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3730752"/>
            <a:ext cx="10287000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F302C"/>
                </a:solidFill>
                <a:latin typeface="Aptos"/>
              </a:defRPr>
            </a:pPr>
            <a:r>
              <a:t>Uma busca em largura descarta mapas que deixam um agente isolado.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544568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544568"/>
            <a:ext cx="10287000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F302C"/>
                </a:solidFill>
                <a:latin typeface="Aptos"/>
              </a:defRPr>
            </a:pPr>
            <a:r>
              <a:t>A mesma semente recria o mesmo mapa e as condições de partida.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96712"/>
            <a:ext cx="10735056" cy="603504"/>
          </a:xfrm>
          <a:prstGeom prst="round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815584"/>
            <a:ext cx="10168128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DF7"/>
                </a:solidFill>
                <a:latin typeface="Aptos"/>
              </a:defRPr>
            </a:pPr>
            <a:r>
              <a:t>200 sementes de calibração                 1.000 sementes de avaliação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O custo de decidir é medido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280160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Operation Count = soma de três contadores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039112"/>
            <a:ext cx="10735056" cy="93268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31136"/>
            <a:ext cx="64008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9F7042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226771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Linha de 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67712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F302C"/>
                </a:solidFill>
                <a:latin typeface="Aptos"/>
              </a:defRPr>
            </a:pPr>
            <a:r>
              <a:t>Verificações de visibilidade.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182112"/>
            <a:ext cx="10735056" cy="93268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74136"/>
            <a:ext cx="64008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9F7042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341071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Nós de busca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10712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F302C"/>
                </a:solidFill>
                <a:latin typeface="Aptos"/>
              </a:defRPr>
            </a:pPr>
            <a:r>
              <a:t>Células expandidas para calcular caminhos.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325112"/>
            <a:ext cx="10735056" cy="93268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17136"/>
            <a:ext cx="64008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9F7042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6231" y="455371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Ações avaliadas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553712"/>
            <a:ext cx="640080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F302C"/>
                </a:solidFill>
                <a:latin typeface="Aptos"/>
              </a:defRPr>
            </a:pPr>
            <a:r>
              <a:t>Posições pontuadas pela 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42432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84830"/>
                </a:solidFill>
                <a:latin typeface="Aptos"/>
              </a:defRPr>
            </a:pPr>
            <a:r>
              <a:t>A contagem ocorre durante a decisão, antes de executar a 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Benchmark automatizado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298448"/>
            <a:ext cx="1051560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Uma execução gera arquivos com as condições e os resultados.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2011680"/>
            <a:ext cx="10716768" cy="63093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84830"/>
                </a:solidFill>
                <a:latin typeface="Aptos"/>
              </a:defRPr>
            </a:pPr>
            <a:r>
              <a:t>manifest.txt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7056" y="2148840"/>
            <a:ext cx="726948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Configuração, modelos e sementes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2724912"/>
            <a:ext cx="10716768" cy="63093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862072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84830"/>
                </a:solidFill>
                <a:latin typeface="Aptos"/>
              </a:defRPr>
            </a:pPr>
            <a:r>
              <a:t>partidas.csv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2862072"/>
            <a:ext cx="726948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Métricas de cada jogador em cada partida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438144"/>
            <a:ext cx="10716768" cy="63093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575304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84830"/>
                </a:solidFill>
                <a:latin typeface="Aptos"/>
              </a:defRPr>
            </a:pPr>
            <a:r>
              <a:t>resumo.csv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3575304"/>
            <a:ext cx="726948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Médias e escore agregado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4151376"/>
            <a:ext cx="10716768" cy="63093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288536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84830"/>
                </a:solidFill>
                <a:latin typeface="Aptos"/>
              </a:defRPr>
            </a:pPr>
            <a:r>
              <a:t>aprendizado.csv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288536"/>
            <a:ext cx="726948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Evolução dos parâmetros ajustáveis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" y="4864608"/>
            <a:ext cx="10716768" cy="63093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00176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84830"/>
                </a:solidFill>
                <a:latin typeface="Aptos"/>
              </a:defRPr>
            </a:pPr>
            <a:r>
              <a:t>turnos.csv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5001768"/>
            <a:ext cx="726948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Registro detalhado opcional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105156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9F7042"/>
                </a:solidFill>
                <a:latin typeface="Aptos"/>
              </a:defRPr>
            </a:pPr>
            <a:r>
              <a:t>Execução sem interface gráfica: mil partidas em poucos minutos.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Controles de viés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08176"/>
            <a:ext cx="10652760" cy="95097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664208"/>
            <a:ext cx="32918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484830"/>
                </a:solidFill>
                <a:latin typeface="Georgia"/>
              </a:defRPr>
            </a:pPr>
            <a:r>
              <a:t>Terreno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8" y="1691640"/>
            <a:ext cx="669340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F302C"/>
                </a:solidFill>
                <a:latin typeface="Aptos"/>
              </a:defRPr>
            </a:pPr>
            <a:r>
              <a:t>Setor de nascimento sorteado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60320"/>
            <a:ext cx="10652760" cy="95097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816352"/>
            <a:ext cx="32918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484830"/>
                </a:solidFill>
                <a:latin typeface="Georgia"/>
              </a:defRPr>
            </a:pPr>
            <a:r>
              <a:t>Primeiro turno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843784"/>
            <a:ext cx="669340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F302C"/>
                </a:solidFill>
                <a:latin typeface="Aptos"/>
              </a:defRPr>
            </a:pPr>
            <a:r>
              <a:t>Iniciativa rotativa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12464"/>
            <a:ext cx="10652760" cy="95097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968496"/>
            <a:ext cx="32918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484830"/>
                </a:solidFill>
                <a:latin typeface="Georgia"/>
              </a:defRPr>
            </a:pPr>
            <a:r>
              <a:t>Sorte em combate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995928"/>
            <a:ext cx="669340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F302C"/>
                </a:solidFill>
                <a:latin typeface="Aptos"/>
              </a:defRPr>
            </a:pPr>
            <a:r>
              <a:t>Dano e regras determinísticos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64608"/>
            <a:ext cx="10652760" cy="95097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5120640"/>
            <a:ext cx="32918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484830"/>
                </a:solidFill>
                <a:latin typeface="Georgia"/>
              </a:defRPr>
            </a:pPr>
            <a:r>
              <a:t>Sobreajuste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148072"/>
            <a:ext cx="669340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F302C"/>
                </a:solidFill>
                <a:latin typeface="Aptos"/>
              </a:defRPr>
            </a:pPr>
            <a:r>
              <a:t>Calibração e avaliação em bancos separados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Experimento zero: posições equivalentes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51560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1.000 partidas com três IAs Reativas idênticas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984248"/>
            <a:ext cx="3383280" cy="186537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1984248"/>
            <a:ext cx="3383280" cy="155448"/>
          </a:xfrm>
          <a:prstGeom prst="rect">
            <a:avLst/>
          </a:prstGeom>
          <a:solidFill>
            <a:srgbClr val="5B7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14016"/>
            <a:ext cx="30175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5B794F"/>
                </a:solidFill>
                <a:latin typeface="Georgia"/>
              </a:defRPr>
            </a:pPr>
            <a:r>
              <a:t>30,6%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91256"/>
            <a:ext cx="3054096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Verde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9431" y="1984248"/>
            <a:ext cx="3383280" cy="186537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1" y="1984248"/>
            <a:ext cx="3383280" cy="155448"/>
          </a:xfrm>
          <a:prstGeom prst="rect">
            <a:avLst/>
          </a:prstGeom>
          <a:solidFill>
            <a:srgbClr val="A85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3" y="2414016"/>
            <a:ext cx="30175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A85549"/>
                </a:solidFill>
                <a:latin typeface="Georgia"/>
              </a:defRPr>
            </a:pPr>
            <a:r>
              <a:t>32,8%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3191256"/>
            <a:ext cx="3054096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Vermelho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5048" y="1984248"/>
            <a:ext cx="3383280" cy="1865376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85048" y="1984248"/>
            <a:ext cx="3383280" cy="155448"/>
          </a:xfrm>
          <a:prstGeom prst="rect">
            <a:avLst/>
          </a:prstGeom>
          <a:solidFill>
            <a:srgbClr val="4E7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414016"/>
            <a:ext cx="3017520" cy="6766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4E7089"/>
                </a:solidFill>
                <a:latin typeface="Georgia"/>
              </a:defRPr>
            </a:pPr>
            <a:r>
              <a:t>30,1%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191256"/>
            <a:ext cx="3054096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Azul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10561320" cy="1408176"/>
          </a:xfrm>
          <a:prstGeom prst="round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4535424"/>
            <a:ext cx="9966960" cy="448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FFDF7"/>
                </a:solidFill>
                <a:latin typeface="Georgia"/>
              </a:defRPr>
            </a:pPr>
            <a:r>
              <a:t>χ² = 1,32     p = 0,516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129784"/>
            <a:ext cx="995781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FFFDF7"/>
                </a:solidFill>
                <a:latin typeface="Aptos"/>
              </a:defRPr>
            </a:pPr>
            <a:r>
              <a:t>O teste não detectou diferença estatisticamente significativa entre as posições.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5989320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706954"/>
                </a:solidFill>
                <a:latin typeface="Aptos"/>
              </a:defRPr>
            </a:pPr>
            <a:r>
              <a:t>Teste de qui-quadrado, gl = 2; análise do repositório.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Passo 01 concluído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618488"/>
            <a:ext cx="10652760" cy="97840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828800"/>
            <a:ext cx="56692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5B794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2496" y="1783080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Modelos de decisão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792224"/>
            <a:ext cx="5522976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Aleatória, Reativa e Heurística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2825496"/>
            <a:ext cx="10652760" cy="97840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3035808"/>
            <a:ext cx="56692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5B794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6" y="2990088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Logger e métricas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999232"/>
            <a:ext cx="5522976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Operation Count e exportação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4032504"/>
            <a:ext cx="10652760" cy="978408"/>
          </a:xfrm>
          <a:prstGeom prst="round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42816"/>
            <a:ext cx="566928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5B794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496" y="4197096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F302C"/>
                </a:solidFill>
                <a:latin typeface="Aptos"/>
              </a:defRPr>
            </a:pPr>
            <a:r>
              <a:t>Pipeline de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206240"/>
            <a:ext cx="5522976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F302C"/>
                </a:solidFill>
                <a:latin typeface="Aptos"/>
              </a:defRPr>
            </a:pPr>
            <a:r>
              <a:t>Execução em lote autodocumentada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623560"/>
            <a:ext cx="10625328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484830"/>
                </a:solidFill>
                <a:latin typeface="Aptos"/>
              </a:defRPr>
            </a:pPr>
            <a:r>
              <a:t>Resultado adicional: teste empírico da neutralidade do ambiente.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2F302C"/>
                </a:solidFill>
                <a:latin typeface="Georgia"/>
              </a:defRPr>
            </a:pPr>
            <a:r>
              <a:t>Próximo passo: validação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6848" y="566928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70695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26464"/>
            <a:ext cx="29260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3300" b="1">
                <a:solidFill>
                  <a:srgbClr val="484830"/>
                </a:solidFill>
                <a:latin typeface="Georgia"/>
              </a:defRPr>
            </a:pPr>
            <a:r>
              <a:t>Passo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76856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2F302C"/>
                </a:solidFill>
                <a:latin typeface="Aptos"/>
              </a:defRPr>
            </a:pPr>
            <a:r>
              <a:t>Executar os modelos sobre o banco oficial de 1.000 sementes.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27832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27832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2F302C"/>
                </a:solidFill>
                <a:latin typeface="Aptos"/>
              </a:defRPr>
            </a:pPr>
            <a:r>
              <a:t>Coletar desempenho estratégico e custo computacional.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201168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48483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78808"/>
            <a:ext cx="9875520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2F302C"/>
                </a:solidFill>
                <a:latin typeface="Aptos"/>
              </a:defRPr>
            </a:pPr>
            <a:r>
              <a:t>Comparar os resultados com análise estatística.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5330952"/>
            <a:ext cx="10616184" cy="960120"/>
          </a:xfrm>
          <a:prstGeom prst="round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559552"/>
            <a:ext cx="10122408" cy="5394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FFFDF7"/>
                </a:solidFill>
                <a:latin typeface="Georgia"/>
              </a:defRPr>
            </a:pPr>
            <a:r>
              <a:t>Quanto custa cada ganho de qualidade estratégica?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484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2322576"/>
            <a:ext cx="104698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5400" b="1">
                <a:solidFill>
                  <a:srgbClr val="2F302C"/>
                </a:solidFill>
                <a:latin typeface="Georgia"/>
              </a:defRPr>
            </a:pPr>
            <a: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886200"/>
            <a:ext cx="1014984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  <a:defRPr sz="1900" b="0">
                <a:solidFill>
                  <a:srgbClr val="484830"/>
                </a:solidFill>
                <a:latin typeface="Aptos"/>
              </a:defRPr>
            </a:pPr>
            <a:r>
              <a:t>Gabriel Madeira  ·  Simulador Tático para Avaliação de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